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5"/>
  </p:notesMasterIdLst>
  <p:handoutMasterIdLst>
    <p:handoutMasterId r:id="rId16"/>
  </p:handoutMasterIdLst>
  <p:sldIdLst>
    <p:sldId id="312" r:id="rId5"/>
    <p:sldId id="313" r:id="rId6"/>
    <p:sldId id="314" r:id="rId7"/>
    <p:sldId id="315" r:id="rId8"/>
    <p:sldId id="319" r:id="rId9"/>
    <p:sldId id="320" r:id="rId10"/>
    <p:sldId id="316" r:id="rId11"/>
    <p:sldId id="317" r:id="rId12"/>
    <p:sldId id="318" r:id="rId13"/>
    <p:sldId id="321"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388" autoAdjust="0"/>
  </p:normalViewPr>
  <p:slideViewPr>
    <p:cSldViewPr snapToGrid="0" snapToObjects="1">
      <p:cViewPr varScale="1">
        <p:scale>
          <a:sx n="91" d="100"/>
          <a:sy n="91" d="100"/>
        </p:scale>
        <p:origin x="322" y="13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5.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5.xml"/><Relationship Id="rId5" Type="http://schemas.openxmlformats.org/officeDocument/2006/relationships/image" Target="../media/image21.jpg"/><Relationship Id="rId4" Type="http://schemas.openxmlformats.org/officeDocument/2006/relationships/image" Target="../media/image20.jpg"/></Relationships>
</file>

<file path=ppt/slides/_rels/slide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1"/>
            <a:ext cx="6392421" cy="4641448"/>
          </a:xfrm>
        </p:spPr>
        <p:txBody>
          <a:bodyPr anchor="ctr"/>
          <a:lstStyle/>
          <a:p>
            <a:r>
              <a:rPr lang="en-US" dirty="0"/>
              <a:t>Fit </a:t>
            </a:r>
            <a:r>
              <a:rPr lang="en-US" dirty="0" err="1"/>
              <a:t>track-health&amp;fitness</a:t>
            </a:r>
            <a:r>
              <a:rPr lang="en-US" dirty="0"/>
              <a:t> data Analysis</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9BE0F7-5233-FB5D-3C6C-B381BF7C3E29}"/>
              </a:ext>
            </a:extLst>
          </p:cNvPr>
          <p:cNvSpPr>
            <a:spLocks noGrp="1"/>
          </p:cNvSpPr>
          <p:nvPr>
            <p:ph type="title"/>
          </p:nvPr>
        </p:nvSpPr>
        <p:spPr>
          <a:xfrm>
            <a:off x="3460565" y="223520"/>
            <a:ext cx="7965461" cy="471489"/>
          </a:xfrm>
        </p:spPr>
        <p:txBody>
          <a:bodyPr/>
          <a:lstStyle/>
          <a:p>
            <a:r>
              <a:rPr lang="en-IN" sz="2400" dirty="0">
                <a:latin typeface="Arial Rounded MT Bold" panose="020F0704030504030204" pitchFamily="34" charset="0"/>
              </a:rPr>
              <a:t>Abstract :-</a:t>
            </a:r>
          </a:p>
        </p:txBody>
      </p:sp>
      <p:sp>
        <p:nvSpPr>
          <p:cNvPr id="4" name="Content Placeholder 3">
            <a:extLst>
              <a:ext uri="{FF2B5EF4-FFF2-40B4-BE49-F238E27FC236}">
                <a16:creationId xmlns:a16="http://schemas.microsoft.com/office/drawing/2014/main" id="{EF21C728-AB33-7C11-0428-E8A9F6BCF979}"/>
              </a:ext>
            </a:extLst>
          </p:cNvPr>
          <p:cNvSpPr>
            <a:spLocks noGrp="1"/>
          </p:cNvSpPr>
          <p:nvPr>
            <p:ph sz="half" idx="2"/>
          </p:nvPr>
        </p:nvSpPr>
        <p:spPr>
          <a:xfrm>
            <a:off x="3460565" y="928688"/>
            <a:ext cx="7965460" cy="4749034"/>
          </a:xfrm>
        </p:spPr>
        <p:txBody>
          <a:bodyPr>
            <a:normAutofit fontScale="92500" lnSpcReduction="10000"/>
          </a:bodyPr>
          <a:lstStyle/>
          <a:p>
            <a:r>
              <a:rPr lang="en-US" dirty="0"/>
              <a:t>In recent years, the importance of sleep in maintaining overall health and well-being has gained increasing recognition in the scientific and medical communities. Poor sleep has been linked to numerous chronic health conditions including obesity, diabetes, cardiovascular diseases, and mental health disorders.</a:t>
            </a:r>
          </a:p>
          <a:p>
            <a:r>
              <a:rPr lang="en-US" dirty="0"/>
              <a:t> In this project, we conduct an exploratory data analysis (EDA) on a dataset titled "Sleep_health.csv", which contains various attributes related to individual health metrics and demographic information that could potentially impact sleep </a:t>
            </a:r>
            <a:r>
              <a:rPr lang="en-US" dirty="0" err="1"/>
              <a:t>health.The</a:t>
            </a:r>
            <a:r>
              <a:rPr lang="en-US" dirty="0"/>
              <a:t> dataset includes variables such as age, gender, occupation, Body Mass Index (BMI), daily physical activity level, and alcohol consumption, among others. The goal of the analysis is to gain insights into the patterns, trends, and potential anomalies in the dataset that may correlate with sleep behavior and health. </a:t>
            </a:r>
          </a:p>
          <a:p>
            <a:r>
              <a:rPr lang="en-US" dirty="0"/>
              <a:t>The study starts with basic data loading and inspection, followed by preprocessing steps including the removal of the 'Sleep Disorder' column, handling of missing and duplicate data, and understanding categorical variable </a:t>
            </a:r>
            <a:r>
              <a:rPr lang="en-US" dirty="0" err="1"/>
              <a:t>distributions.Advanced</a:t>
            </a:r>
            <a:r>
              <a:rPr lang="en-US" dirty="0"/>
              <a:t> visualization techniques using libraries such as Seaborn and Matplotlib are employed to explore the distribution of numeric features and identify the presence of outliers. Furthermore, correlation analysis among numerical variables is conducted to detect potential relationships, especially among variables that may collectively influence sleep quality or duration.</a:t>
            </a:r>
            <a:endParaRPr lang="en-IN" dirty="0"/>
          </a:p>
        </p:txBody>
      </p:sp>
      <p:sp>
        <p:nvSpPr>
          <p:cNvPr id="2" name="Slide Number Placeholder 1">
            <a:extLst>
              <a:ext uri="{FF2B5EF4-FFF2-40B4-BE49-F238E27FC236}">
                <a16:creationId xmlns:a16="http://schemas.microsoft.com/office/drawing/2014/main" id="{22BAE91E-1325-A4B7-CE19-510F01B6E548}"/>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430069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7B228-3F33-BBE6-1A40-565EB4A7DDAC}"/>
              </a:ext>
            </a:extLst>
          </p:cNvPr>
          <p:cNvSpPr>
            <a:spLocks noGrp="1"/>
          </p:cNvSpPr>
          <p:nvPr>
            <p:ph type="title"/>
          </p:nvPr>
        </p:nvSpPr>
        <p:spPr>
          <a:xfrm>
            <a:off x="3460565" y="-513806"/>
            <a:ext cx="7965461" cy="1158240"/>
          </a:xfrm>
        </p:spPr>
        <p:txBody>
          <a:bodyPr/>
          <a:lstStyle/>
          <a:p>
            <a:r>
              <a:rPr lang="en-IN" sz="2400" dirty="0">
                <a:latin typeface="Arial Rounded MT Bold" panose="020F0704030504030204" pitchFamily="34" charset="0"/>
              </a:rPr>
              <a:t>Outcomes</a:t>
            </a:r>
            <a:r>
              <a:rPr lang="en-IN" sz="2400" dirty="0"/>
              <a:t>:-</a:t>
            </a:r>
          </a:p>
        </p:txBody>
      </p:sp>
      <p:sp>
        <p:nvSpPr>
          <p:cNvPr id="3" name="Content Placeholder 2">
            <a:extLst>
              <a:ext uri="{FF2B5EF4-FFF2-40B4-BE49-F238E27FC236}">
                <a16:creationId xmlns:a16="http://schemas.microsoft.com/office/drawing/2014/main" id="{0BA7238A-BADC-FDA0-EB82-871B8C6DE5EF}"/>
              </a:ext>
            </a:extLst>
          </p:cNvPr>
          <p:cNvSpPr>
            <a:spLocks noGrp="1"/>
          </p:cNvSpPr>
          <p:nvPr>
            <p:ph sz="half" idx="2"/>
          </p:nvPr>
        </p:nvSpPr>
        <p:spPr>
          <a:xfrm>
            <a:off x="3460565" y="862149"/>
            <a:ext cx="7965460" cy="4938578"/>
          </a:xfrm>
        </p:spPr>
        <p:txBody>
          <a:bodyPr/>
          <a:lstStyle/>
          <a:p>
            <a:r>
              <a:rPr lang="en-US" dirty="0"/>
              <a:t>“Performed exploratory data analysis (EDA) on a health dataset to explore factors </a:t>
            </a:r>
            <a:r>
              <a:rPr lang="en-US" dirty="0" err="1"/>
              <a:t>affectting</a:t>
            </a:r>
            <a:r>
              <a:rPr lang="en-US" dirty="0"/>
              <a:t> sleep, including age, physical activity, and BMI.”</a:t>
            </a:r>
          </a:p>
          <a:p>
            <a:r>
              <a:rPr lang="en-US" dirty="0"/>
              <a:t>Loaded dataset using </a:t>
            </a:r>
            <a:r>
              <a:rPr lang="en-US" dirty="0" err="1"/>
              <a:t>pandasUsed</a:t>
            </a:r>
            <a:r>
              <a:rPr lang="en-US" dirty="0"/>
              <a:t> .head(), .info(), and .describe() to explore </a:t>
            </a:r>
            <a:r>
              <a:rPr lang="en-US" dirty="0" err="1"/>
              <a:t>dataIdentified</a:t>
            </a:r>
            <a:r>
              <a:rPr lang="en-US" dirty="0"/>
              <a:t> data types and basic statistics</a:t>
            </a:r>
          </a:p>
          <a:p>
            <a:r>
              <a:rPr lang="en-US" dirty="0"/>
              <a:t>Dropped irrelevant column: 'Sleep </a:t>
            </a:r>
            <a:r>
              <a:rPr lang="en-US" dirty="0" err="1"/>
              <a:t>Disorder'Checked</a:t>
            </a:r>
            <a:r>
              <a:rPr lang="en-US" dirty="0"/>
              <a:t> for and found no missing or duplicate </a:t>
            </a:r>
            <a:r>
              <a:rPr lang="en-US" dirty="0" err="1"/>
              <a:t>valuesExplored</a:t>
            </a:r>
            <a:r>
              <a:rPr lang="en-US" dirty="0"/>
              <a:t> and counted unique values in categorical features</a:t>
            </a:r>
          </a:p>
          <a:p>
            <a:r>
              <a:rPr lang="en-US" dirty="0"/>
              <a:t>Histograms showed most people sleep between 6–8 </a:t>
            </a:r>
            <a:r>
              <a:rPr lang="en-US" dirty="0" err="1"/>
              <a:t>hoursBoxplots</a:t>
            </a:r>
            <a:r>
              <a:rPr lang="en-US" dirty="0"/>
              <a:t> identified outliers in BMI and physical </a:t>
            </a:r>
            <a:r>
              <a:rPr lang="en-US" dirty="0" err="1"/>
              <a:t>activityAge</a:t>
            </a:r>
            <a:r>
              <a:rPr lang="en-US" dirty="0"/>
              <a:t> distribution skewed toward younger adults</a:t>
            </a:r>
            <a:endParaRPr lang="en-IN" dirty="0"/>
          </a:p>
        </p:txBody>
      </p:sp>
      <p:sp>
        <p:nvSpPr>
          <p:cNvPr id="4" name="Slide Number Placeholder 3">
            <a:extLst>
              <a:ext uri="{FF2B5EF4-FFF2-40B4-BE49-F238E27FC236}">
                <a16:creationId xmlns:a16="http://schemas.microsoft.com/office/drawing/2014/main" id="{42FE0F03-5C31-CF56-99B7-69001DC5CFBB}"/>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1664858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60D40-01C1-406E-458D-536786D76AEF}"/>
              </a:ext>
            </a:extLst>
          </p:cNvPr>
          <p:cNvSpPr>
            <a:spLocks noGrp="1"/>
          </p:cNvSpPr>
          <p:nvPr>
            <p:ph type="title"/>
          </p:nvPr>
        </p:nvSpPr>
        <p:spPr>
          <a:xfrm>
            <a:off x="3460565" y="5553511"/>
            <a:ext cx="7965461" cy="637563"/>
          </a:xfrm>
        </p:spPr>
        <p:txBody>
          <a:bodyPr/>
          <a:lstStyle/>
          <a:p>
            <a:pPr algn="ctr"/>
            <a:r>
              <a:rPr lang="en-IN" dirty="0"/>
              <a:t>  </a:t>
            </a:r>
            <a:r>
              <a:rPr lang="en-IN" sz="2800" dirty="0">
                <a:latin typeface="Arial Rounded MT Bold" panose="020F0704030504030204" pitchFamily="34" charset="0"/>
              </a:rPr>
              <a:t>hist plot</a:t>
            </a:r>
          </a:p>
        </p:txBody>
      </p:sp>
      <p:pic>
        <p:nvPicPr>
          <p:cNvPr id="6" name="Content Placeholder 5">
            <a:extLst>
              <a:ext uri="{FF2B5EF4-FFF2-40B4-BE49-F238E27FC236}">
                <a16:creationId xmlns:a16="http://schemas.microsoft.com/office/drawing/2014/main" id="{CE483488-E468-3080-93C0-761BC4BD27D4}"/>
              </a:ext>
            </a:extLst>
          </p:cNvPr>
          <p:cNvPicPr>
            <a:picLocks noGrp="1" noChangeAspect="1"/>
          </p:cNvPicPr>
          <p:nvPr>
            <p:ph sz="half" idx="2"/>
          </p:nvPr>
        </p:nvPicPr>
        <p:blipFill>
          <a:blip r:embed="rId2"/>
          <a:stretch>
            <a:fillRect/>
          </a:stretch>
        </p:blipFill>
        <p:spPr>
          <a:xfrm>
            <a:off x="2744238" y="183539"/>
            <a:ext cx="3111439" cy="2278307"/>
          </a:xfrm>
        </p:spPr>
      </p:pic>
      <p:sp>
        <p:nvSpPr>
          <p:cNvPr id="4" name="Slide Number Placeholder 3">
            <a:extLst>
              <a:ext uri="{FF2B5EF4-FFF2-40B4-BE49-F238E27FC236}">
                <a16:creationId xmlns:a16="http://schemas.microsoft.com/office/drawing/2014/main" id="{9F835F77-769B-3F6C-A5A1-A244C795F15A}"/>
              </a:ext>
            </a:extLst>
          </p:cNvPr>
          <p:cNvSpPr>
            <a:spLocks noGrp="1"/>
          </p:cNvSpPr>
          <p:nvPr>
            <p:ph type="sldNum" sz="quarter" idx="10"/>
          </p:nvPr>
        </p:nvSpPr>
        <p:spPr/>
        <p:txBody>
          <a:bodyPr/>
          <a:lstStyle/>
          <a:p>
            <a:fld id="{48F63A3B-78C7-47BE-AE5E-E10140E04643}" type="slidenum">
              <a:rPr lang="en-US" smtClean="0"/>
              <a:pPr/>
              <a:t>4</a:t>
            </a:fld>
            <a:endParaRPr lang="en-US" dirty="0"/>
          </a:p>
        </p:txBody>
      </p:sp>
      <p:pic>
        <p:nvPicPr>
          <p:cNvPr id="8" name="Picture 7">
            <a:extLst>
              <a:ext uri="{FF2B5EF4-FFF2-40B4-BE49-F238E27FC236}">
                <a16:creationId xmlns:a16="http://schemas.microsoft.com/office/drawing/2014/main" id="{C782E170-2E18-D1DC-64D4-0A9C9E36654E}"/>
              </a:ext>
            </a:extLst>
          </p:cNvPr>
          <p:cNvPicPr>
            <a:picLocks noChangeAspect="1"/>
          </p:cNvPicPr>
          <p:nvPr/>
        </p:nvPicPr>
        <p:blipFill>
          <a:blip r:embed="rId3"/>
          <a:stretch>
            <a:fillRect/>
          </a:stretch>
        </p:blipFill>
        <p:spPr>
          <a:xfrm>
            <a:off x="6069623" y="183539"/>
            <a:ext cx="3378139" cy="2278307"/>
          </a:xfrm>
          <a:prstGeom prst="rect">
            <a:avLst/>
          </a:prstGeom>
        </p:spPr>
      </p:pic>
      <p:pic>
        <p:nvPicPr>
          <p:cNvPr id="10" name="Picture 9">
            <a:extLst>
              <a:ext uri="{FF2B5EF4-FFF2-40B4-BE49-F238E27FC236}">
                <a16:creationId xmlns:a16="http://schemas.microsoft.com/office/drawing/2014/main" id="{EFFDA303-7BF9-7B11-637F-C3F852E036E7}"/>
              </a:ext>
            </a:extLst>
          </p:cNvPr>
          <p:cNvPicPr>
            <a:picLocks noChangeAspect="1"/>
          </p:cNvPicPr>
          <p:nvPr/>
        </p:nvPicPr>
        <p:blipFill>
          <a:blip r:embed="rId4"/>
          <a:stretch>
            <a:fillRect/>
          </a:stretch>
        </p:blipFill>
        <p:spPr>
          <a:xfrm>
            <a:off x="9573447" y="183539"/>
            <a:ext cx="2436845" cy="2278307"/>
          </a:xfrm>
          <a:prstGeom prst="rect">
            <a:avLst/>
          </a:prstGeom>
        </p:spPr>
      </p:pic>
      <p:pic>
        <p:nvPicPr>
          <p:cNvPr id="12" name="Picture 11">
            <a:extLst>
              <a:ext uri="{FF2B5EF4-FFF2-40B4-BE49-F238E27FC236}">
                <a16:creationId xmlns:a16="http://schemas.microsoft.com/office/drawing/2014/main" id="{D585A712-0AA1-7791-9EEA-6C856086CDBF}"/>
              </a:ext>
            </a:extLst>
          </p:cNvPr>
          <p:cNvPicPr>
            <a:picLocks noChangeAspect="1"/>
          </p:cNvPicPr>
          <p:nvPr/>
        </p:nvPicPr>
        <p:blipFill>
          <a:blip r:embed="rId5"/>
          <a:stretch>
            <a:fillRect/>
          </a:stretch>
        </p:blipFill>
        <p:spPr>
          <a:xfrm>
            <a:off x="2744238" y="2836975"/>
            <a:ext cx="3111439" cy="2555790"/>
          </a:xfrm>
          <a:prstGeom prst="rect">
            <a:avLst/>
          </a:prstGeom>
        </p:spPr>
      </p:pic>
      <p:pic>
        <p:nvPicPr>
          <p:cNvPr id="14" name="Picture 13">
            <a:extLst>
              <a:ext uri="{FF2B5EF4-FFF2-40B4-BE49-F238E27FC236}">
                <a16:creationId xmlns:a16="http://schemas.microsoft.com/office/drawing/2014/main" id="{F1D19F2F-DF8A-4CC8-254F-834C161266D1}"/>
              </a:ext>
            </a:extLst>
          </p:cNvPr>
          <p:cNvPicPr>
            <a:picLocks noChangeAspect="1"/>
          </p:cNvPicPr>
          <p:nvPr/>
        </p:nvPicPr>
        <p:blipFill>
          <a:blip r:embed="rId6"/>
          <a:stretch>
            <a:fillRect/>
          </a:stretch>
        </p:blipFill>
        <p:spPr>
          <a:xfrm>
            <a:off x="6139962" y="2836975"/>
            <a:ext cx="3378139" cy="2555790"/>
          </a:xfrm>
          <a:prstGeom prst="rect">
            <a:avLst/>
          </a:prstGeom>
        </p:spPr>
      </p:pic>
    </p:spTree>
    <p:extLst>
      <p:ext uri="{BB962C8B-B14F-4D97-AF65-F5344CB8AC3E}">
        <p14:creationId xmlns:p14="http://schemas.microsoft.com/office/powerpoint/2010/main" val="4069817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0092A-70D6-F14A-9E2B-4C3B4643B023}"/>
              </a:ext>
            </a:extLst>
          </p:cNvPr>
          <p:cNvSpPr>
            <a:spLocks noGrp="1"/>
          </p:cNvSpPr>
          <p:nvPr>
            <p:ph type="title"/>
          </p:nvPr>
        </p:nvSpPr>
        <p:spPr>
          <a:xfrm rot="10800000" flipV="1">
            <a:off x="3460565" y="5803475"/>
            <a:ext cx="7965461" cy="723159"/>
          </a:xfrm>
        </p:spPr>
        <p:txBody>
          <a:bodyPr/>
          <a:lstStyle/>
          <a:p>
            <a:pPr algn="ctr"/>
            <a:r>
              <a:rPr lang="en-IN" dirty="0"/>
              <a:t> </a:t>
            </a:r>
            <a:r>
              <a:rPr lang="en-IN" sz="2800" dirty="0">
                <a:latin typeface="Arial Rounded MT Bold" panose="020F0704030504030204" pitchFamily="34" charset="0"/>
              </a:rPr>
              <a:t>box plot</a:t>
            </a:r>
          </a:p>
        </p:txBody>
      </p:sp>
      <p:sp>
        <p:nvSpPr>
          <p:cNvPr id="4" name="Slide Number Placeholder 3">
            <a:extLst>
              <a:ext uri="{FF2B5EF4-FFF2-40B4-BE49-F238E27FC236}">
                <a16:creationId xmlns:a16="http://schemas.microsoft.com/office/drawing/2014/main" id="{3A5F152B-5197-7DD3-F747-B4558F9E9FFB}"/>
              </a:ext>
            </a:extLst>
          </p:cNvPr>
          <p:cNvSpPr>
            <a:spLocks noGrp="1"/>
          </p:cNvSpPr>
          <p:nvPr>
            <p:ph type="sldNum" sz="quarter" idx="10"/>
          </p:nvPr>
        </p:nvSpPr>
        <p:spPr/>
        <p:txBody>
          <a:bodyPr/>
          <a:lstStyle/>
          <a:p>
            <a:fld id="{48F63A3B-78C7-47BE-AE5E-E10140E04643}" type="slidenum">
              <a:rPr lang="en-US" smtClean="0"/>
              <a:pPr/>
              <a:t>5</a:t>
            </a:fld>
            <a:endParaRPr lang="en-US" dirty="0"/>
          </a:p>
        </p:txBody>
      </p:sp>
      <p:pic>
        <p:nvPicPr>
          <p:cNvPr id="16" name="Content Placeholder 15">
            <a:extLst>
              <a:ext uri="{FF2B5EF4-FFF2-40B4-BE49-F238E27FC236}">
                <a16:creationId xmlns:a16="http://schemas.microsoft.com/office/drawing/2014/main" id="{34789FE5-8876-247D-C2BE-6B05B63E0A6A}"/>
              </a:ext>
            </a:extLst>
          </p:cNvPr>
          <p:cNvPicPr>
            <a:picLocks noGrp="1" noChangeAspect="1"/>
          </p:cNvPicPr>
          <p:nvPr>
            <p:ph sz="half" idx="2"/>
          </p:nvPr>
        </p:nvPicPr>
        <p:blipFill>
          <a:blip r:embed="rId2"/>
          <a:stretch>
            <a:fillRect/>
          </a:stretch>
        </p:blipFill>
        <p:spPr>
          <a:xfrm>
            <a:off x="2780642" y="175193"/>
            <a:ext cx="3863997" cy="3253808"/>
          </a:xfrm>
          <a:prstGeom prst="rect">
            <a:avLst/>
          </a:prstGeom>
        </p:spPr>
      </p:pic>
      <p:pic>
        <p:nvPicPr>
          <p:cNvPr id="7" name="Picture 6">
            <a:extLst>
              <a:ext uri="{FF2B5EF4-FFF2-40B4-BE49-F238E27FC236}">
                <a16:creationId xmlns:a16="http://schemas.microsoft.com/office/drawing/2014/main" id="{078F36DC-D16D-D442-44F9-A5463DF1107C}"/>
              </a:ext>
            </a:extLst>
          </p:cNvPr>
          <p:cNvPicPr>
            <a:picLocks noChangeAspect="1"/>
          </p:cNvPicPr>
          <p:nvPr/>
        </p:nvPicPr>
        <p:blipFill>
          <a:blip r:embed="rId3"/>
          <a:stretch>
            <a:fillRect/>
          </a:stretch>
        </p:blipFill>
        <p:spPr>
          <a:xfrm>
            <a:off x="6789420" y="175192"/>
            <a:ext cx="3863997" cy="3253809"/>
          </a:xfrm>
          <a:prstGeom prst="rect">
            <a:avLst/>
          </a:prstGeom>
        </p:spPr>
      </p:pic>
      <p:pic>
        <p:nvPicPr>
          <p:cNvPr id="9" name="Picture 8">
            <a:extLst>
              <a:ext uri="{FF2B5EF4-FFF2-40B4-BE49-F238E27FC236}">
                <a16:creationId xmlns:a16="http://schemas.microsoft.com/office/drawing/2014/main" id="{F12FBA99-9073-B6CF-07EF-89A735935A8A}"/>
              </a:ext>
            </a:extLst>
          </p:cNvPr>
          <p:cNvPicPr>
            <a:picLocks noChangeAspect="1"/>
          </p:cNvPicPr>
          <p:nvPr/>
        </p:nvPicPr>
        <p:blipFill>
          <a:blip r:embed="rId4"/>
          <a:stretch>
            <a:fillRect/>
          </a:stretch>
        </p:blipFill>
        <p:spPr>
          <a:xfrm>
            <a:off x="2853031" y="3429001"/>
            <a:ext cx="3863997" cy="2292291"/>
          </a:xfrm>
          <a:prstGeom prst="rect">
            <a:avLst/>
          </a:prstGeom>
        </p:spPr>
      </p:pic>
      <p:pic>
        <p:nvPicPr>
          <p:cNvPr id="11" name="Picture 10">
            <a:extLst>
              <a:ext uri="{FF2B5EF4-FFF2-40B4-BE49-F238E27FC236}">
                <a16:creationId xmlns:a16="http://schemas.microsoft.com/office/drawing/2014/main" id="{8789739F-BF10-FD63-ADD0-DEE14B16B5F2}"/>
              </a:ext>
            </a:extLst>
          </p:cNvPr>
          <p:cNvPicPr>
            <a:picLocks noChangeAspect="1"/>
          </p:cNvPicPr>
          <p:nvPr/>
        </p:nvPicPr>
        <p:blipFill>
          <a:blip r:embed="rId5"/>
          <a:stretch>
            <a:fillRect/>
          </a:stretch>
        </p:blipFill>
        <p:spPr>
          <a:xfrm>
            <a:off x="6789417" y="3429001"/>
            <a:ext cx="3863997" cy="2208401"/>
          </a:xfrm>
          <a:prstGeom prst="rect">
            <a:avLst/>
          </a:prstGeom>
        </p:spPr>
      </p:pic>
    </p:spTree>
    <p:extLst>
      <p:ext uri="{BB962C8B-B14F-4D97-AF65-F5344CB8AC3E}">
        <p14:creationId xmlns:p14="http://schemas.microsoft.com/office/powerpoint/2010/main" val="120682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06963-56FD-9294-7199-D1E664DCE5F8}"/>
              </a:ext>
            </a:extLst>
          </p:cNvPr>
          <p:cNvSpPr>
            <a:spLocks noGrp="1"/>
          </p:cNvSpPr>
          <p:nvPr>
            <p:ph type="title"/>
          </p:nvPr>
        </p:nvSpPr>
        <p:spPr>
          <a:xfrm>
            <a:off x="3460565" y="-600891"/>
            <a:ext cx="7965461" cy="296091"/>
          </a:xfrm>
        </p:spPr>
        <p:txBody>
          <a:bodyPr/>
          <a:lstStyle/>
          <a:p>
            <a:endParaRPr lang="en-IN" dirty="0"/>
          </a:p>
        </p:txBody>
      </p:sp>
      <p:pic>
        <p:nvPicPr>
          <p:cNvPr id="6" name="Content Placeholder 5">
            <a:extLst>
              <a:ext uri="{FF2B5EF4-FFF2-40B4-BE49-F238E27FC236}">
                <a16:creationId xmlns:a16="http://schemas.microsoft.com/office/drawing/2014/main" id="{19DDEEA2-E436-2C03-8906-C95DA7FDEF5C}"/>
              </a:ext>
            </a:extLst>
          </p:cNvPr>
          <p:cNvPicPr>
            <a:picLocks noGrp="1" noChangeAspect="1"/>
          </p:cNvPicPr>
          <p:nvPr>
            <p:ph sz="half" idx="2"/>
          </p:nvPr>
        </p:nvPicPr>
        <p:blipFill>
          <a:blip r:embed="rId2"/>
          <a:stretch>
            <a:fillRect/>
          </a:stretch>
        </p:blipFill>
        <p:spPr>
          <a:xfrm>
            <a:off x="3460750" y="615462"/>
            <a:ext cx="7964488" cy="5558915"/>
          </a:xfrm>
        </p:spPr>
      </p:pic>
      <p:sp>
        <p:nvSpPr>
          <p:cNvPr id="4" name="Slide Number Placeholder 3">
            <a:extLst>
              <a:ext uri="{FF2B5EF4-FFF2-40B4-BE49-F238E27FC236}">
                <a16:creationId xmlns:a16="http://schemas.microsoft.com/office/drawing/2014/main" id="{01FF5360-C0BD-7211-5AD0-095BE4264CEB}"/>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2766437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BFCD8-EA74-F5E9-8E4C-9E425042783E}"/>
              </a:ext>
            </a:extLst>
          </p:cNvPr>
          <p:cNvSpPr>
            <a:spLocks noGrp="1"/>
          </p:cNvSpPr>
          <p:nvPr>
            <p:ph type="title"/>
          </p:nvPr>
        </p:nvSpPr>
        <p:spPr/>
        <p:txBody>
          <a:bodyPr/>
          <a:lstStyle/>
          <a:p>
            <a:r>
              <a:rPr lang="en-IN" sz="2400" dirty="0">
                <a:latin typeface="Arial Rounded MT Bold" panose="020F0704030504030204" pitchFamily="34" charset="0"/>
              </a:rPr>
              <a:t>Advantages:-</a:t>
            </a:r>
          </a:p>
        </p:txBody>
      </p:sp>
      <p:sp>
        <p:nvSpPr>
          <p:cNvPr id="3" name="Content Placeholder 2">
            <a:extLst>
              <a:ext uri="{FF2B5EF4-FFF2-40B4-BE49-F238E27FC236}">
                <a16:creationId xmlns:a16="http://schemas.microsoft.com/office/drawing/2014/main" id="{E47DA549-211B-3F5F-F21E-F0CEBEA7514C}"/>
              </a:ext>
            </a:extLst>
          </p:cNvPr>
          <p:cNvSpPr>
            <a:spLocks noGrp="1"/>
          </p:cNvSpPr>
          <p:nvPr>
            <p:ph sz="half" idx="2"/>
          </p:nvPr>
        </p:nvSpPr>
        <p:spPr/>
        <p:txBody>
          <a:bodyPr/>
          <a:lstStyle/>
          <a:p>
            <a:r>
              <a:rPr lang="en-US" dirty="0"/>
              <a:t>Comprehensive EDA: The notebook includes a wide range of EDA techniques such as statistical summaries, histograms, and correlation matrices.</a:t>
            </a:r>
          </a:p>
          <a:p>
            <a:r>
              <a:rPr lang="en-US" dirty="0"/>
              <a:t>Visualization: Use of seaborn and matplotlib aids in understanding data distribution and detecting </a:t>
            </a:r>
            <a:r>
              <a:rPr lang="en-US" dirty="0" err="1"/>
              <a:t>outliers.Structured</a:t>
            </a:r>
            <a:endParaRPr lang="en-US" dirty="0"/>
          </a:p>
          <a:p>
            <a:r>
              <a:rPr lang="en-US" dirty="0"/>
              <a:t> Cleaning: Checks for missing and duplicated data ensure data integrity.</a:t>
            </a:r>
            <a:endParaRPr lang="en-IN" dirty="0"/>
          </a:p>
        </p:txBody>
      </p:sp>
      <p:sp>
        <p:nvSpPr>
          <p:cNvPr id="4" name="Slide Number Placeholder 3">
            <a:extLst>
              <a:ext uri="{FF2B5EF4-FFF2-40B4-BE49-F238E27FC236}">
                <a16:creationId xmlns:a16="http://schemas.microsoft.com/office/drawing/2014/main" id="{E0CBA963-3832-5069-9447-A8860F22A998}"/>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3572755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DAD81-BCAD-B10A-68FD-D120B8C25917}"/>
              </a:ext>
            </a:extLst>
          </p:cNvPr>
          <p:cNvSpPr>
            <a:spLocks noGrp="1"/>
          </p:cNvSpPr>
          <p:nvPr>
            <p:ph type="title"/>
          </p:nvPr>
        </p:nvSpPr>
        <p:spPr/>
        <p:txBody>
          <a:bodyPr/>
          <a:lstStyle/>
          <a:p>
            <a:r>
              <a:rPr lang="en-IN" sz="2400" dirty="0">
                <a:latin typeface="Arial Rounded MT Bold" panose="020F0704030504030204" pitchFamily="34" charset="0"/>
              </a:rPr>
              <a:t>Disadvantages:-</a:t>
            </a:r>
          </a:p>
        </p:txBody>
      </p:sp>
      <p:sp>
        <p:nvSpPr>
          <p:cNvPr id="3" name="Content Placeholder 2">
            <a:extLst>
              <a:ext uri="{FF2B5EF4-FFF2-40B4-BE49-F238E27FC236}">
                <a16:creationId xmlns:a16="http://schemas.microsoft.com/office/drawing/2014/main" id="{0754D0BC-5D64-D8B9-575B-23F596203669}"/>
              </a:ext>
            </a:extLst>
          </p:cNvPr>
          <p:cNvSpPr>
            <a:spLocks noGrp="1"/>
          </p:cNvSpPr>
          <p:nvPr>
            <p:ph sz="half" idx="2"/>
          </p:nvPr>
        </p:nvSpPr>
        <p:spPr/>
        <p:txBody>
          <a:bodyPr/>
          <a:lstStyle/>
          <a:p>
            <a:r>
              <a:rPr lang="en-US" dirty="0"/>
              <a:t>No Modeling or Prediction: The notebook focuses only on EDA and doesn’t move towards building a predictive model</a:t>
            </a:r>
          </a:p>
          <a:p>
            <a:r>
              <a:rPr lang="en-US" dirty="0"/>
              <a:t>.Limited Insight on Target: The "Sleep Disorder" column was dropped early on, removing the possibility to explore supervised learning or target-specific analysis.</a:t>
            </a:r>
          </a:p>
          <a:p>
            <a:r>
              <a:rPr lang="en-US" dirty="0"/>
              <a:t>No Conclusions Drawn from Visuals: The results of visualizations are not interpreted in markdown cells, which reduces the explanatory value</a:t>
            </a:r>
            <a:endParaRPr lang="en-IN" dirty="0"/>
          </a:p>
        </p:txBody>
      </p:sp>
      <p:sp>
        <p:nvSpPr>
          <p:cNvPr id="4" name="Slide Number Placeholder 3">
            <a:extLst>
              <a:ext uri="{FF2B5EF4-FFF2-40B4-BE49-F238E27FC236}">
                <a16:creationId xmlns:a16="http://schemas.microsoft.com/office/drawing/2014/main" id="{21136D51-A0F6-14DE-63E6-F76DEC5EDB90}"/>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3310818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6530B-24F3-7DA7-FDA2-22E9BCA513E9}"/>
              </a:ext>
            </a:extLst>
          </p:cNvPr>
          <p:cNvSpPr>
            <a:spLocks noGrp="1"/>
          </p:cNvSpPr>
          <p:nvPr>
            <p:ph type="title"/>
          </p:nvPr>
        </p:nvSpPr>
        <p:spPr>
          <a:xfrm>
            <a:off x="3460565" y="457200"/>
            <a:ext cx="7965461" cy="600074"/>
          </a:xfrm>
        </p:spPr>
        <p:txBody>
          <a:bodyPr/>
          <a:lstStyle/>
          <a:p>
            <a:r>
              <a:rPr lang="en-IN" sz="2400" dirty="0">
                <a:latin typeface="Arial Rounded MT Bold" panose="020F0704030504030204" pitchFamily="34" charset="0"/>
              </a:rPr>
              <a:t>Conclusion:-</a:t>
            </a:r>
          </a:p>
        </p:txBody>
      </p:sp>
      <p:sp>
        <p:nvSpPr>
          <p:cNvPr id="3" name="Content Placeholder 2">
            <a:extLst>
              <a:ext uri="{FF2B5EF4-FFF2-40B4-BE49-F238E27FC236}">
                <a16:creationId xmlns:a16="http://schemas.microsoft.com/office/drawing/2014/main" id="{4770340A-642D-60EA-E838-E512A8B7713F}"/>
              </a:ext>
            </a:extLst>
          </p:cNvPr>
          <p:cNvSpPr>
            <a:spLocks noGrp="1"/>
          </p:cNvSpPr>
          <p:nvPr>
            <p:ph sz="half" idx="2"/>
          </p:nvPr>
        </p:nvSpPr>
        <p:spPr>
          <a:xfrm>
            <a:off x="3460565" y="1323703"/>
            <a:ext cx="7965460" cy="4477024"/>
          </a:xfrm>
        </p:spPr>
        <p:txBody>
          <a:bodyPr/>
          <a:lstStyle/>
          <a:p>
            <a:r>
              <a:rPr lang="en-US" dirty="0"/>
              <a:t>The analysis provides a solid foundation in understanding the structure and distribution of health-related data, especially factors associated with sleep. However, it lacks deeper insights, modeling, or hypothesis testing that could add significant value. Future work should focus on retaining the "Sleep Disorder" column for predictive analysis and include interpretation of visual outputs to derive actionable conclusions</a:t>
            </a:r>
            <a:endParaRPr lang="en-IN" dirty="0"/>
          </a:p>
        </p:txBody>
      </p:sp>
      <p:sp>
        <p:nvSpPr>
          <p:cNvPr id="4" name="Slide Number Placeholder 3">
            <a:extLst>
              <a:ext uri="{FF2B5EF4-FFF2-40B4-BE49-F238E27FC236}">
                <a16:creationId xmlns:a16="http://schemas.microsoft.com/office/drawing/2014/main" id="{DB7F0454-E281-8272-2AC6-5120D9638241}"/>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914018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75E0E-E1FA-31EA-BC0E-F3A03E54860C}"/>
              </a:ext>
            </a:extLst>
          </p:cNvPr>
          <p:cNvSpPr>
            <a:spLocks noGrp="1"/>
          </p:cNvSpPr>
          <p:nvPr>
            <p:ph type="title"/>
          </p:nvPr>
        </p:nvSpPr>
        <p:spPr/>
        <p:txBody>
          <a:bodyPr/>
          <a:lstStyle/>
          <a:p>
            <a:endParaRPr lang="en-IN" dirty="0"/>
          </a:p>
        </p:txBody>
      </p:sp>
      <p:pic>
        <p:nvPicPr>
          <p:cNvPr id="6" name="Content Placeholder 5">
            <a:extLst>
              <a:ext uri="{FF2B5EF4-FFF2-40B4-BE49-F238E27FC236}">
                <a16:creationId xmlns:a16="http://schemas.microsoft.com/office/drawing/2014/main" id="{C691DBEF-DF81-55D5-05B8-F7DC33BA59B7}"/>
              </a:ext>
            </a:extLst>
          </p:cNvPr>
          <p:cNvPicPr>
            <a:picLocks noGrp="1" noChangeAspect="1"/>
          </p:cNvPicPr>
          <p:nvPr>
            <p:ph sz="half" idx="2"/>
          </p:nvPr>
        </p:nvPicPr>
        <p:blipFill>
          <a:blip r:embed="rId2"/>
          <a:stretch>
            <a:fillRect/>
          </a:stretch>
        </p:blipFill>
        <p:spPr>
          <a:xfrm>
            <a:off x="0" y="-144974"/>
            <a:ext cx="12191999" cy="7002973"/>
          </a:xfrm>
        </p:spPr>
      </p:pic>
      <p:sp>
        <p:nvSpPr>
          <p:cNvPr id="4" name="Slide Number Placeholder 3">
            <a:extLst>
              <a:ext uri="{FF2B5EF4-FFF2-40B4-BE49-F238E27FC236}">
                <a16:creationId xmlns:a16="http://schemas.microsoft.com/office/drawing/2014/main" id="{1F7BFA29-7EF8-584F-5912-36CADBBCCB7E}"/>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2073177354"/>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{6BB0BABE-940B-4CC6-8120-78622D5DFFEA}tf78438558_win32</Template>
  <TotalTime>98</TotalTime>
  <Words>549</Words>
  <Application>Microsoft Office PowerPoint</Application>
  <PresentationFormat>Widescreen</PresentationFormat>
  <Paragraphs>31</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Arial Rounded MT Bold</vt:lpstr>
      <vt:lpstr>Calibri</vt:lpstr>
      <vt:lpstr>Sabon Next LT</vt:lpstr>
      <vt:lpstr>Custom</vt:lpstr>
      <vt:lpstr>Fit track-health&amp;fitness data Analysis</vt:lpstr>
      <vt:lpstr>Abstract :-</vt:lpstr>
      <vt:lpstr>Outcomes:-</vt:lpstr>
      <vt:lpstr>  hist plot</vt:lpstr>
      <vt:lpstr> box plot</vt:lpstr>
      <vt:lpstr>PowerPoint Presentation</vt:lpstr>
      <vt:lpstr>Advantages:-</vt:lpstr>
      <vt:lpstr>Disadvantages:-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Gopi Krishna</dc:creator>
  <cp:lastModifiedBy>Gopi Krishna</cp:lastModifiedBy>
  <cp:revision>1</cp:revision>
  <dcterms:created xsi:type="dcterms:W3CDTF">2025-07-12T22:44:31Z</dcterms:created>
  <dcterms:modified xsi:type="dcterms:W3CDTF">2025-07-13T00:22:45Z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